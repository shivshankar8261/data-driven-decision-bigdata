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Project Title &amp; Problem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 b="1"/>
              <a:t>Project Title: Data-Driven Decision Making in an Organization Using Big Data Technologies</a:t>
            </a:r>
          </a:p>
          <a:p>
            <a:r>
              <a:rPr sz="1400"/>
              <a:t>Name &amp; USN: ____________________ | ____________________</a:t>
            </a:r>
          </a:p>
          <a:p>
            <a:r>
              <a:rPr sz="1400"/>
              <a:t>Domain: Big Data Analytics &amp; Organizational Decision Intelligence</a:t>
            </a:r>
          </a:p>
          <a:p>
            <a:r>
              <a:rPr sz="1400"/>
              <a:t>Problem Statement: Organizations generate vast operational data but lack integrated pipelines to convert it into high-quality decisions. Poor data quality, high error rates, and fragmented analytics reduce decision effectiveness by up to 40%.</a:t>
            </a:r>
          </a:p>
          <a:p>
            <a:r>
              <a:rPr sz="1400"/>
              <a:t>Target Users: C-suite executives, Department heads, Data analysts, HR managers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Data Source (CSV/ERP)  →  Ingestion (GCP Cloud Storage)  →  Processing (PySpark on GCP Dataproc)  →  Storage (Parquet)  →  Dashboard (Streamlit)</a:t>
            </a:r>
          </a:p>
          <a:p>
            <a:r>
              <a:rPr sz="1300"/>
              <a:t/>
            </a:r>
          </a:p>
          <a:p>
            <a:r>
              <a:rPr sz="1300"/>
              <a:t>Tools &amp; Technologies:</a:t>
            </a:r>
          </a:p>
          <a:p>
            <a:pPr lvl="1"/>
            <a:r>
              <a:rPr sz="1300"/>
              <a:t>• Apache Spark (PySpark) — Distributed data processing engine</a:t>
            </a:r>
          </a:p>
          <a:p>
            <a:pPr lvl="1"/>
            <a:r>
              <a:rPr sz="1300"/>
              <a:t>• GCP Dataproc — Managed Spark cluster with auto-scaling</a:t>
            </a:r>
          </a:p>
          <a:p>
            <a:pPr lvl="1"/>
            <a:r>
              <a:rPr sz="1300"/>
              <a:t>• GCP Cloud Storage — Durable raw &amp; processed data lake</a:t>
            </a:r>
          </a:p>
          <a:p>
            <a:pPr lvl="1"/>
            <a:r>
              <a:rPr sz="1300"/>
              <a:t>• Apache Parquet — Columnar storage with Snappy compression</a:t>
            </a:r>
          </a:p>
          <a:p>
            <a:pPr lvl="1"/>
            <a:r>
              <a:rPr sz="1300"/>
              <a:t>• Streamlit — Interactive Python dashboard framework</a:t>
            </a:r>
          </a:p>
          <a:p>
            <a:pPr lvl="1"/>
            <a:r>
              <a:rPr sz="1300"/>
              <a:t>• Plotly / Matplotlib / Seaborn — Visualization libraries</a:t>
            </a:r>
          </a:p>
          <a:p>
            <a:r>
              <a:rPr sz="1300"/>
              <a:t/>
            </a:r>
          </a:p>
          <a:p>
            <a:r>
              <a:rPr sz="1300"/>
              <a:t>Workflow: Raw CSV → Schema Validation → Cleaning (Nulls, Duplicates, Outliers) → Feature Engineering (9 derived features) → Aggregations → Parquet Storage → Interactive Dashboard → Business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PySpark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Dataset: data_driven_decision_realistic.csv — 123,847 rows × 15 columns (2024–2025)</a:t>
            </a:r>
          </a:p>
          <a:p>
            <a:r>
              <a:rPr sz="1200"/>
              <a:t/>
            </a:r>
          </a:p>
          <a:p>
            <a:r>
              <a:rPr sz="1200"/>
              <a:t>Key Operations:</a:t>
            </a:r>
          </a:p>
          <a:p>
            <a:pPr lvl="1"/>
            <a:r>
              <a:rPr sz="1200"/>
              <a:t>• Data Cleaning: Null imputation (median), duplicate removal, outlier capping (IQR method), negative value correction</a:t>
            </a:r>
          </a:p>
          <a:p>
            <a:pPr lvl="1"/>
            <a:r>
              <a:rPr sz="1200"/>
              <a:t>• Feature Engineering: experience_training_ratio, efficiency_score, quality_error_interaction, temporal features (month, quarter, day_of_week)</a:t>
            </a:r>
          </a:p>
          <a:p>
            <a:pPr lvl="1"/>
            <a:r>
              <a:rPr sz="1200"/>
              <a:t>• Aggregations: Department-wise (avg impact, performance, sales), Region-wise (satisfaction, attrition), Quarterly trends</a:t>
            </a:r>
          </a:p>
          <a:p>
            <a:pPr lvl="1"/>
            <a:r>
              <a:rPr sz="1200"/>
              <a:t>• Filtering: High error rate cases (&gt;0.3), High attrition risk employees (≥0.7)</a:t>
            </a:r>
          </a:p>
          <a:p>
            <a:r>
              <a:rPr sz="1200"/>
              <a:t/>
            </a:r>
          </a:p>
          <a:p>
            <a:r>
              <a:rPr sz="1200"/>
              <a:t>Code Snippet:</a:t>
            </a:r>
          </a:p>
          <a:p>
            <a:r>
              <a:rPr sz="1200"/>
              <a:t>  df = spark.read.csv(path, header=True, schema=schema)</a:t>
            </a:r>
          </a:p>
          <a:p>
            <a:r>
              <a:rPr sz="1200"/>
              <a:t>  df = df.dropDuplicates()</a:t>
            </a:r>
          </a:p>
          <a:p>
            <a:r>
              <a:rPr sz="1200"/>
              <a:t>  df = df.withColumn('Efficiency_Score', col('Performance_Score')/(col('Processing_Time_sec')+1))</a:t>
            </a:r>
          </a:p>
          <a:p>
            <a:r>
              <a:rPr sz="1200"/>
              <a:t>  df.write.partitionBy('Department').parquet('processed_data/')</a:t>
            </a:r>
          </a:p>
          <a:p>
            <a:r>
              <a:rPr sz="1200"/>
              <a:t/>
            </a:r>
          </a:p>
          <a:p>
            <a:r>
              <a:rPr sz="1200"/>
              <a:t>Output: 24 columns (9 engineered), Parquet format, partitioned by Department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/>
              <a:t>Dashboard: Streamlit interactive dashboard with KPI cards, 6 chart types, sidebar filters</a:t>
            </a:r>
          </a:p>
          <a:p>
            <a:r>
              <a:rPr sz="1300"/>
              <a:t/>
            </a:r>
          </a:p>
          <a:p>
            <a:r>
              <a:rPr sz="1300"/>
              <a:t>Key Insight 1: Data Quality Score is the strongest predictor of Decision Impact (r = 0.736). Organizations should prioritize data quality programs to maximize decision effectiveness.</a:t>
            </a:r>
          </a:p>
          <a:p>
            <a:r>
              <a:rPr sz="1300"/>
              <a:t/>
            </a:r>
          </a:p>
          <a:p>
            <a:r>
              <a:rPr sz="1300"/>
              <a:t>Key Insight 2: Employees with &gt;40 training hours/year achieve 27% higher performance scores (4.76 vs 3.76). Clear ROI on training investment.</a:t>
            </a:r>
          </a:p>
          <a:p>
            <a:r>
              <a:rPr sz="1300"/>
              <a:t/>
            </a:r>
          </a:p>
          <a:p>
            <a:r>
              <a:rPr sz="1300"/>
              <a:t>Key Insight 3: Error rates above 15% cause a 43% drop in Decision Impact Score (77.7 → 44.6). Implement automated quality gates at this threshold.</a:t>
            </a:r>
          </a:p>
          <a:p>
            <a:r>
              <a:rPr sz="1300"/>
              <a:t/>
            </a:r>
          </a:p>
          <a:p>
            <a:r>
              <a:rPr sz="1300"/>
              <a:t>Additional: Engineering department leads in Decision Impact (+40% vs HR) due to superior data quality and training investment. Attrition Risk and Customer Satisfaction show strong inverse correlation (r = -0.875).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/>
              <a:t>Real-World Applications:</a:t>
            </a:r>
          </a:p>
          <a:p>
            <a:pPr lvl="1"/>
            <a:r>
              <a:rPr sz="1200"/>
              <a:t>• Management Consulting — Analyze client decision quality, identify bottlenecks, prescribe interventions</a:t>
            </a:r>
          </a:p>
          <a:p>
            <a:pPr lvl="1"/>
            <a:r>
              <a:rPr sz="1200"/>
              <a:t>• Healthcare Administration — Monitor clinical decision errors, track staff training compliance, predict attrition</a:t>
            </a:r>
          </a:p>
          <a:p>
            <a:pPr lvl="1"/>
            <a:r>
              <a:rPr sz="1200"/>
              <a:t>• Retail &amp; E-Commerce — Optimize pricing/marketing decisions across regions and product categories</a:t>
            </a:r>
          </a:p>
          <a:p>
            <a:pPr lvl="1"/>
            <a:r>
              <a:rPr sz="1200"/>
              <a:t>• Financial Services — Quality-gate credit decisions, flag high-error-rate processing pipelines</a:t>
            </a:r>
          </a:p>
          <a:p>
            <a:r>
              <a:rPr sz="1200"/>
              <a:t/>
            </a:r>
          </a:p>
          <a:p>
            <a:r>
              <a:rPr sz="1200"/>
              <a:t>Scalability:</a:t>
            </a:r>
          </a:p>
          <a:p>
            <a:pPr lvl="1"/>
            <a:r>
              <a:rPr sz="1200"/>
              <a:t>• Horizontal Scaling: GCP Dataproc clusters (10–100 nodes) for petabyte-scale data</a:t>
            </a:r>
          </a:p>
          <a:p>
            <a:pPr lvl="1"/>
            <a:r>
              <a:rPr sz="1200"/>
              <a:t>• Partition Strategy: Composite partitioning (Department + Region + Year) for efficient queries</a:t>
            </a:r>
          </a:p>
          <a:p>
            <a:pPr lvl="1"/>
            <a:r>
              <a:rPr sz="1200"/>
              <a:t>• Storage: Parquet + Snappy compression (60–80% reduction), Delta Lake for ACID transactions</a:t>
            </a:r>
          </a:p>
          <a:p>
            <a:r>
              <a:rPr sz="1200"/>
              <a:t/>
            </a:r>
          </a:p>
          <a:p>
            <a:r>
              <a:rPr sz="1200"/>
              <a:t>Future Improvements:</a:t>
            </a:r>
          </a:p>
          <a:p>
            <a:pPr lvl="1"/>
            <a:r>
              <a:rPr sz="1200"/>
              <a:t>• Real-time processing via Spark Structured Streaming</a:t>
            </a:r>
          </a:p>
          <a:p>
            <a:pPr lvl="1"/>
            <a:r>
              <a:rPr sz="1200"/>
              <a:t>• ML models (Random Forest, XGBoost) to predict Decision Impact proactively</a:t>
            </a:r>
          </a:p>
          <a:p>
            <a:pPr lvl="1"/>
            <a:r>
              <a:rPr sz="1200"/>
              <a:t>• Automated alerts when error rates exceed thresholds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/>
              <a:t>Summary:</a:t>
            </a:r>
          </a:p>
          <a:p>
            <a:r>
              <a:rPr sz="1400"/>
              <a:t/>
            </a:r>
          </a:p>
          <a:p>
            <a:r>
              <a:rPr sz="1400"/>
              <a:t>Problem: Organizations fail to leverage data for high-quality decisions due to poor data quality, fragmented pipelines, and lack of actionable insights.</a:t>
            </a:r>
          </a:p>
          <a:p>
            <a:r>
              <a:rPr sz="1400"/>
              <a:t/>
            </a:r>
          </a:p>
          <a:p>
            <a:r>
              <a:rPr sz="1400"/>
              <a:t>Solution: Built a complete big data pipeline using PySpark, GCP, and Streamlit that ingests 123,847 records, cleans and transforms the data, and delivers interactive dashboards with business insights.</a:t>
            </a:r>
          </a:p>
          <a:p>
            <a:r>
              <a:rPr sz="1400"/>
              <a:t/>
            </a:r>
          </a:p>
          <a:p>
            <a:r>
              <a:rPr sz="1400"/>
              <a:t>Outcome: Identified Data Quality (r=0.74) and Error Rate (r=-0.77) as the top drivers of decision effectiveness. Derived 5 actionable decisions projected to improve decision quality by 18–25%.</a:t>
            </a:r>
          </a:p>
          <a:p>
            <a:r>
              <a:rPr sz="1400"/>
              <a:t/>
            </a:r>
          </a:p>
          <a:p>
            <a:r>
              <a:rPr sz="1400"/>
              <a:t/>
            </a:r>
          </a:p>
          <a:p>
            <a:r>
              <a:rPr sz="140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