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 &amp; 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1">
                <a:solidFill>
                  <a:srgbClr val="2C3E50"/>
                </a:solidFill>
                <a:latin typeface="Calibri"/>
              </a:rPr>
              <a:t>Project Title:</a:t>
            </a:r>
          </a:p>
          <a:p>
            <a:r>
              <a:rPr sz="1400" b="0">
                <a:solidFill>
                  <a:srgbClr val="2980B9"/>
                </a:solidFill>
                <a:latin typeface="Calibri"/>
              </a:rPr>
              <a:t>Data-Driven Decision Making in an Organization</a:t>
            </a:r>
          </a:p>
          <a:p>
            <a:r>
              <a:rPr sz="1400" b="0">
                <a:solidFill>
                  <a:srgbClr val="2980B9"/>
                </a:solidFill>
                <a:latin typeface="Calibri"/>
              </a:rPr>
              <a:t>Using Big Data Technologies</a:t>
            </a:r>
          </a:p>
          <a:p>
            <a:r>
              <a:rPr sz="1000" b="0">
                <a:latin typeface="Calibri"/>
              </a:rPr>
              <a:t/>
            </a:r>
          </a:p>
          <a:p>
            <a:r>
              <a:rPr sz="1200" b="0">
                <a:solidFill>
                  <a:srgbClr val="505050"/>
                </a:solidFill>
                <a:latin typeface="Calibri"/>
              </a:rPr>
              <a:t>Name &amp; USN: ____________________ | ____________________</a:t>
            </a:r>
          </a:p>
          <a:p>
            <a:r>
              <a:rPr sz="1200" b="0">
                <a:solidFill>
                  <a:srgbClr val="505050"/>
                </a:solidFill>
                <a:latin typeface="Calibri"/>
              </a:rPr>
              <a:t>Domain: Big Data Analytics &amp; Organizational Decision Intelligence</a:t>
            </a:r>
          </a:p>
          <a:p>
            <a:r>
              <a:rPr sz="800" b="0">
                <a:latin typeface="Calibri"/>
              </a:rPr>
              <a:t/>
            </a:r>
          </a:p>
          <a:p>
            <a:r>
              <a:rPr sz="1300" b="1">
                <a:solidFill>
                  <a:srgbClr val="C0392B"/>
                </a:solidFill>
                <a:latin typeface="Calibri"/>
              </a:rPr>
              <a:t>Problem Statement:</a:t>
            </a:r>
          </a:p>
          <a:p>
            <a:r>
              <a:rPr sz="1200" b="0">
                <a:latin typeface="Calibri"/>
              </a:rPr>
              <a:t>Organizations generate vast operational data but lack integrated</a:t>
            </a:r>
          </a:p>
          <a:p>
            <a:r>
              <a:rPr sz="1200" b="0">
                <a:latin typeface="Calibri"/>
              </a:rPr>
              <a:t>pipelines to convert it into high-quality decisions. Poor data quality,</a:t>
            </a:r>
          </a:p>
          <a:p>
            <a:r>
              <a:rPr sz="1200" b="0">
                <a:latin typeface="Calibri"/>
              </a:rPr>
              <a:t>high error rates, and fragmented analytics reduce decision</a:t>
            </a:r>
          </a:p>
          <a:p>
            <a:r>
              <a:rPr sz="1200" b="0">
                <a:latin typeface="Calibri"/>
              </a:rPr>
              <a:t>effectiveness by up to 40%.</a:t>
            </a:r>
          </a:p>
          <a:p>
            <a:r>
              <a:rPr sz="800" b="0">
                <a:latin typeface="Calibri"/>
              </a:rPr>
              <a:t/>
            </a:r>
          </a:p>
          <a:p>
            <a:r>
              <a:rPr sz="1100" b="1">
                <a:solidFill>
                  <a:srgbClr val="27AE60"/>
                </a:solidFill>
                <a:latin typeface="Calibri"/>
              </a:rPr>
              <a:t>Target Users: C-suite executives | Department heads | Data analysts | HR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00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412480" cy="5990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6464"/>
                </a:solidFill>
                <a:latin typeface="Calibri"/>
              </a:rPr>
              <a:t>Tools: PySpark | GCP Dataproc | Cloud Storage | Parquet | Streamlit | Plotly |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PySpark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latin typeface="Calibri"/>
              </a:rPr>
              <a:t>Dataset: 123,847 rows × 15 columns</a:t>
            </a:r>
          </a:p>
          <a:p>
            <a:pPr algn="l"/>
            <a:r>
              <a:rPr sz="1000" b="1">
                <a:latin typeface="Calibri"/>
              </a:rPr>
              <a:t>Period: Jan 2024 – Dec 2025</a:t>
            </a:r>
          </a:p>
          <a:p>
            <a:pPr algn="l"/>
            <a:r>
              <a:rPr sz="1000">
                <a:latin typeface="Calibri"/>
              </a:rPr>
              <a:t/>
            </a:r>
          </a:p>
          <a:p>
            <a:pPr algn="l"/>
            <a:r>
              <a:rPr sz="1000" b="1">
                <a:latin typeface="Calibri"/>
              </a:rPr>
              <a:t>Key Operations:</a:t>
            </a:r>
          </a:p>
          <a:p>
            <a:pPr algn="l" lvl="1"/>
            <a:r>
              <a:rPr sz="1000">
                <a:latin typeface="Calibri"/>
              </a:rPr>
              <a:t>• Null Imputation (median)</a:t>
            </a:r>
          </a:p>
          <a:p>
            <a:pPr algn="l" lvl="1"/>
            <a:r>
              <a:rPr sz="1000">
                <a:latin typeface="Calibri"/>
              </a:rPr>
              <a:t>• Duplicate Removal</a:t>
            </a:r>
          </a:p>
          <a:p>
            <a:pPr algn="l" lvl="1"/>
            <a:r>
              <a:rPr sz="1000">
                <a:latin typeface="Calibri"/>
              </a:rPr>
              <a:t>• Outlier Capping (IQR method)</a:t>
            </a:r>
          </a:p>
          <a:p>
            <a:pPr algn="l" lvl="1"/>
            <a:r>
              <a:rPr sz="1000">
                <a:latin typeface="Calibri"/>
              </a:rPr>
              <a:t>• Feature Engineering (9 new features)</a:t>
            </a:r>
          </a:p>
          <a:p>
            <a:pPr algn="l" lvl="1"/>
            <a:r>
              <a:rPr sz="1000">
                <a:latin typeface="Calibri"/>
              </a:rPr>
              <a:t>• Dept/Region Aggregations</a:t>
            </a:r>
          </a:p>
          <a:p>
            <a:pPr algn="l"/>
            <a:r>
              <a:rPr sz="1000"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980B9"/>
                </a:solidFill>
                <a:latin typeface="Calibri"/>
              </a:rPr>
              <a:t>Code Snippet:</a:t>
            </a:r>
          </a:p>
          <a:p>
            <a:pPr algn="l"/>
            <a:r>
              <a:rPr sz="1000">
                <a:solidFill>
                  <a:srgbClr val="2980B9"/>
                </a:solidFill>
                <a:latin typeface="Calibri"/>
              </a:rPr>
              <a:t>df = spark.read.csv(path, schema=schema)</a:t>
            </a:r>
          </a:p>
          <a:p>
            <a:pPr algn="l"/>
            <a:r>
              <a:rPr sz="1000">
                <a:solidFill>
                  <a:srgbClr val="2980B9"/>
                </a:solidFill>
                <a:latin typeface="Calibri"/>
              </a:rPr>
              <a:t>df = df.dropDuplicates()</a:t>
            </a:r>
          </a:p>
          <a:p>
            <a:pPr algn="l"/>
            <a:r>
              <a:rPr sz="1000">
                <a:solidFill>
                  <a:srgbClr val="2980B9"/>
                </a:solidFill>
                <a:latin typeface="Calibri"/>
              </a:rPr>
              <a:t>df = df.withColumn('Efficiency_Score',</a:t>
            </a:r>
          </a:p>
          <a:p>
            <a:pPr algn="l"/>
            <a:r>
              <a:rPr sz="1000">
                <a:solidFill>
                  <a:srgbClr val="2980B9"/>
                </a:solidFill>
                <a:latin typeface="Calibri"/>
              </a:rPr>
              <a:t>    col('Perf')/(col('Time')+1))</a:t>
            </a:r>
          </a:p>
          <a:p>
            <a:pPr algn="l"/>
            <a:r>
              <a:rPr sz="1000">
                <a:solidFill>
                  <a:srgbClr val="2980B9"/>
                </a:solidFill>
                <a:latin typeface="Calibri"/>
              </a:rPr>
              <a:t>df.write.partitionBy('Department')</a:t>
            </a:r>
          </a:p>
          <a:p>
            <a:pPr algn="l"/>
            <a:r>
              <a:rPr sz="1000">
                <a:solidFill>
                  <a:srgbClr val="2980B9"/>
                </a:solidFill>
                <a:latin typeface="Calibri"/>
              </a:rPr>
              <a:t>    .parquet('processed_data/')</a:t>
            </a:r>
          </a:p>
          <a:p>
            <a:pPr algn="l"/>
            <a:r>
              <a:rPr sz="1000" b="1">
                <a:latin typeface="Calibri"/>
              </a:rPr>
              <a:t/>
            </a:r>
          </a:p>
          <a:p>
            <a:pPr algn="l"/>
            <a:r>
              <a:rPr sz="1000">
                <a:latin typeface="Calibri"/>
              </a:rPr>
              <a:t>Output: 24 cols, Parquet, partitioned</a:t>
            </a:r>
          </a:p>
        </p:txBody>
      </p:sp>
      <p:pic>
        <p:nvPicPr>
          <p:cNvPr id="4" name="Picture 3" descr="01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4023360" cy="35972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787878"/>
                </a:solidFill>
                <a:latin typeface="Calibri"/>
              </a:rPr>
              <a:t>Correlation Matrix of Key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Insights</a:t>
            </a:r>
          </a:p>
        </p:txBody>
      </p:sp>
      <p:pic>
        <p:nvPicPr>
          <p:cNvPr id="3" name="Picture 2" descr="02_dept_decisio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114800" cy="2605748"/>
          </a:xfrm>
          <a:prstGeom prst="rect">
            <a:avLst/>
          </a:prstGeom>
        </p:spPr>
      </p:pic>
      <p:pic>
        <p:nvPicPr>
          <p:cNvPr id="4" name="Picture 3" descr="04_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297680" cy="19183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20624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  <a:latin typeface="Calibri"/>
              </a:rPr>
              <a:t>Key Business Insights:</a:t>
            </a:r>
          </a:p>
          <a:p>
            <a:pPr algn="l"/>
            <a:r>
              <a:rPr sz="1100">
                <a:latin typeface="Calibri"/>
              </a:rPr>
              <a:t/>
            </a:r>
          </a:p>
          <a:p>
            <a:pPr algn="l" lvl="1"/>
            <a:r>
              <a:rPr sz="1100">
                <a:latin typeface="Calibri"/>
              </a:rPr>
              <a:t>• Insight 1: Data Quality is the strongest predictor of Decision Impact (r = 0.736)</a:t>
            </a:r>
          </a:p>
          <a:p>
            <a:pPr algn="l" lvl="1"/>
            <a:r>
              <a:rPr sz="1100">
                <a:latin typeface="Calibri"/>
              </a:rPr>
              <a:t>• Insight 2: Training &gt;40 hrs/yr yields 27% higher performance (4.76 vs 3.76)</a:t>
            </a:r>
          </a:p>
          <a:p>
            <a:pPr algn="l" lvl="1"/>
            <a:r>
              <a:rPr sz="1100">
                <a:latin typeface="Calibri"/>
              </a:rPr>
              <a:t>• Insight 3: Error rates &gt;15% cause 43% drop in Decision Impact (77.7 → 44.6)</a:t>
            </a:r>
          </a:p>
          <a:p>
            <a:pPr algn="l" lvl="1"/>
            <a:r>
              <a:rPr sz="1100">
                <a:latin typeface="Calibri"/>
              </a:rPr>
              <a:t>• Insight 4: Engineering leads Impact (+40% vs HR) — best data quality + training</a:t>
            </a:r>
          </a:p>
          <a:p>
            <a:pPr algn="l" lvl="1"/>
            <a:r>
              <a:rPr sz="1100">
                <a:latin typeface="Calibri"/>
              </a:rPr>
              <a:t>• Insight 5: Attrition Risk ↔ Satisfaction feedback loop (r = –0.875)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  <a:latin typeface="Calibri"/>
              </a:rPr>
              <a:t>Real-World Applications:</a:t>
            </a:r>
          </a:p>
          <a:p>
            <a:pPr algn="l"/>
            <a:r>
              <a:rPr sz="1000">
                <a:latin typeface="Calibri"/>
              </a:rPr>
              <a:t/>
            </a:r>
          </a:p>
          <a:p>
            <a:pPr algn="l" lvl="1"/>
            <a:r>
              <a:rPr sz="1000">
                <a:latin typeface="Calibri"/>
              </a:rPr>
              <a:t>• Consulting — Client decision quality analysis</a:t>
            </a:r>
          </a:p>
          <a:p>
            <a:pPr algn="l" lvl="1"/>
            <a:r>
              <a:rPr sz="1000">
                <a:latin typeface="Calibri"/>
              </a:rPr>
              <a:t>• Healthcare — Clinical error monitoring</a:t>
            </a:r>
          </a:p>
          <a:p>
            <a:pPr algn="l" lvl="1"/>
            <a:r>
              <a:rPr sz="1000">
                <a:latin typeface="Calibri"/>
              </a:rPr>
              <a:t>• Retail — Regional decision optimization</a:t>
            </a:r>
          </a:p>
          <a:p>
            <a:pPr algn="l" lvl="1"/>
            <a:r>
              <a:rPr sz="1000">
                <a:latin typeface="Calibri"/>
              </a:rPr>
              <a:t>• Finance — Error-rate quality gates</a:t>
            </a:r>
          </a:p>
          <a:p>
            <a:pPr algn="l"/>
            <a:r>
              <a:rPr sz="1000"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C3E50"/>
                </a:solidFill>
                <a:latin typeface="Calibri"/>
              </a:rPr>
              <a:t>Scalability:</a:t>
            </a:r>
          </a:p>
          <a:p>
            <a:pPr algn="l" lvl="1"/>
            <a:r>
              <a:rPr sz="1000">
                <a:latin typeface="Calibri"/>
              </a:rPr>
              <a:t>• GCP Dataproc: 10–100 node clusters</a:t>
            </a:r>
          </a:p>
          <a:p>
            <a:pPr algn="l" lvl="1"/>
            <a:r>
              <a:rPr sz="1000">
                <a:latin typeface="Calibri"/>
              </a:rPr>
              <a:t>• Parquet + Snappy: 60–80% compression</a:t>
            </a:r>
          </a:p>
          <a:p>
            <a:pPr algn="l" lvl="1"/>
            <a:r>
              <a:rPr sz="1000">
                <a:latin typeface="Calibri"/>
              </a:rPr>
              <a:t>• Delta Lake for ACID transactions</a:t>
            </a:r>
          </a:p>
          <a:p>
            <a:pPr algn="l"/>
            <a:r>
              <a:rPr sz="1000">
                <a:latin typeface="Calibri"/>
              </a:rPr>
              <a:t/>
            </a:r>
          </a:p>
          <a:p>
            <a:pPr algn="l"/>
            <a:r>
              <a:rPr sz="1000" b="1">
                <a:solidFill>
                  <a:srgbClr val="2C3E50"/>
                </a:solidFill>
                <a:latin typeface="Calibri"/>
              </a:rPr>
              <a:t>Future:</a:t>
            </a:r>
          </a:p>
          <a:p>
            <a:pPr algn="l" lvl="1"/>
            <a:r>
              <a:rPr sz="1000">
                <a:latin typeface="Calibri"/>
              </a:rPr>
              <a:t>• Spark Structured Streaming (real-time)</a:t>
            </a:r>
          </a:p>
          <a:p>
            <a:pPr algn="l" lvl="1"/>
            <a:r>
              <a:rPr sz="1000">
                <a:latin typeface="Calibri"/>
              </a:rPr>
              <a:t>• ML models: predict Decision Impact</a:t>
            </a:r>
          </a:p>
          <a:p>
            <a:pPr algn="l" lvl="1"/>
            <a:r>
              <a:rPr sz="1000">
                <a:latin typeface="Calibri"/>
              </a:rPr>
              <a:t>• Automated threshold alerts</a:t>
            </a:r>
          </a:p>
        </p:txBody>
      </p:sp>
      <p:pic>
        <p:nvPicPr>
          <p:cNvPr id="4" name="Picture 3" descr="03_quality_vs_impac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206240" cy="2560320"/>
          </a:xfrm>
          <a:prstGeom prst="rect">
            <a:avLst/>
          </a:prstGeom>
        </p:spPr>
      </p:pic>
      <p:pic>
        <p:nvPicPr>
          <p:cNvPr id="5" name="Picture 4" descr="06_decision_type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02336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1">
                <a:solidFill>
                  <a:srgbClr val="2C3E50"/>
                </a:solidFill>
                <a:latin typeface="Calibri"/>
              </a:rPr>
              <a:t>Summary:</a:t>
            </a:r>
          </a:p>
          <a:p>
            <a:r>
              <a:rPr sz="800" b="0">
                <a:latin typeface="Calibri"/>
              </a:rPr>
              <a:t/>
            </a:r>
          </a:p>
          <a:p>
            <a:r>
              <a:rPr sz="1300" b="1">
                <a:solidFill>
                  <a:srgbClr val="C0392B"/>
                </a:solidFill>
                <a:latin typeface="Calibri"/>
              </a:rPr>
              <a:t>Problem:</a:t>
            </a:r>
          </a:p>
          <a:p>
            <a:r>
              <a:rPr sz="1200" b="0">
                <a:latin typeface="Calibri"/>
              </a:rPr>
              <a:t>Organizations fail to leverage data for high-quality decisions</a:t>
            </a:r>
          </a:p>
          <a:p>
            <a:r>
              <a:rPr sz="1200" b="0">
                <a:latin typeface="Calibri"/>
              </a:rPr>
              <a:t>due to poor data quality, fragmented pipelines, and lack of insights.</a:t>
            </a:r>
          </a:p>
          <a:p>
            <a:r>
              <a:rPr sz="800" b="0">
                <a:latin typeface="Calibri"/>
              </a:rPr>
              <a:t/>
            </a:r>
          </a:p>
          <a:p>
            <a:r>
              <a:rPr sz="1300" b="1">
                <a:solidFill>
                  <a:srgbClr val="2980B9"/>
                </a:solidFill>
                <a:latin typeface="Calibri"/>
              </a:rPr>
              <a:t>Solution:</a:t>
            </a:r>
          </a:p>
          <a:p>
            <a:r>
              <a:rPr sz="1200" b="0">
                <a:latin typeface="Calibri"/>
              </a:rPr>
              <a:t>Complete big data pipeline: PySpark + GCP + Streamlit</a:t>
            </a:r>
          </a:p>
          <a:p>
            <a:r>
              <a:rPr sz="1200" b="0">
                <a:latin typeface="Calibri"/>
              </a:rPr>
              <a:t>123,847 records → Clean → Transform → Parquet → Dashboard</a:t>
            </a:r>
          </a:p>
          <a:p>
            <a:r>
              <a:rPr sz="800" b="0">
                <a:latin typeface="Calibri"/>
              </a:rPr>
              <a:t/>
            </a:r>
          </a:p>
          <a:p>
            <a:r>
              <a:rPr sz="1300" b="1">
                <a:solidFill>
                  <a:srgbClr val="27AE60"/>
                </a:solidFill>
                <a:latin typeface="Calibri"/>
              </a:rPr>
              <a:t>Outcome:</a:t>
            </a:r>
          </a:p>
          <a:p>
            <a:r>
              <a:rPr sz="1200" b="0">
                <a:latin typeface="Calibri"/>
              </a:rPr>
              <a:t>Data Quality (r=0.74) and Error Rate (r=–0.77) identified as top drivers.</a:t>
            </a:r>
          </a:p>
          <a:p>
            <a:r>
              <a:rPr sz="1200" b="0">
                <a:latin typeface="Calibri"/>
              </a:rPr>
              <a:t>5 actionable decisions projected to improve quality by 18–25%.</a:t>
            </a:r>
          </a:p>
          <a:p>
            <a:r>
              <a:rPr sz="1000" b="0">
                <a:latin typeface="Calibri"/>
              </a:rPr>
              <a:t/>
            </a:r>
          </a:p>
          <a:p>
            <a:r>
              <a:rPr sz="1000" b="0">
                <a:latin typeface="Calibri"/>
              </a:rPr>
              <a:t/>
            </a:r>
          </a:p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